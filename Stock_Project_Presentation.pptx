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75" r:id="rId5"/>
    <p:sldId id="276" r:id="rId6"/>
    <p:sldId id="277" r:id="rId7"/>
    <p:sldId id="281" r:id="rId8"/>
    <p:sldId id="278" r:id="rId9"/>
    <p:sldId id="280" r:id="rId10"/>
    <p:sldId id="279" r:id="rId11"/>
    <p:sldId id="282" r:id="rId12"/>
    <p:sldId id="263" r:id="rId13"/>
    <p:sldId id="283" r:id="rId14"/>
    <p:sldId id="264" r:id="rId15"/>
    <p:sldId id="284" r:id="rId16"/>
    <p:sldId id="285" r:id="rId17"/>
    <p:sldId id="286" r:id="rId18"/>
    <p:sldId id="287" r:id="rId19"/>
    <p:sldId id="267" r:id="rId20"/>
    <p:sldId id="273" r:id="rId21"/>
    <p:sldId id="288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i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 Market Analysis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Submitted by: </a:t>
            </a:r>
            <a:r>
              <a:rPr lang="en-US" dirty="0">
                <a:solidFill>
                  <a:schemeClr val="tx1"/>
                </a:solidFill>
              </a:rPr>
              <a:t>ABHIJIT SINHA</a:t>
            </a:r>
          </a:p>
          <a:p>
            <a:r>
              <a:rPr lang="en-US" dirty="0">
                <a:solidFill>
                  <a:schemeClr val="tx2"/>
                </a:solidFill>
              </a:rPr>
              <a:t>Email: </a:t>
            </a:r>
            <a:r>
              <a:rPr lang="en-US" dirty="0">
                <a:solidFill>
                  <a:schemeClr val="tx1"/>
                </a:solidFill>
              </a:rPr>
              <a:t>sinhaabhijit12@yahoo.com</a:t>
            </a:r>
          </a:p>
          <a:p>
            <a:r>
              <a:rPr lang="en-US" dirty="0">
                <a:solidFill>
                  <a:schemeClr val="tx2"/>
                </a:solidFill>
              </a:rPr>
              <a:t>UNID: </a:t>
            </a:r>
            <a:r>
              <a:rPr lang="en-US" dirty="0">
                <a:solidFill>
                  <a:schemeClr val="tx1"/>
                </a:solidFill>
              </a:rPr>
              <a:t>UMID08062541597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tx2"/>
                </a:solidFill>
              </a:rPr>
              <a:t>Abstract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85" y="1417638"/>
            <a:ext cx="8760542" cy="5292878"/>
          </a:xfrm>
        </p:spPr>
        <p:txBody>
          <a:bodyPr>
            <a:normAutofit lnSpcReduction="10000"/>
          </a:bodyPr>
          <a:lstStyle/>
          <a:p>
            <a:r>
              <a:rPr dirty="0"/>
              <a:t>This project analyzes stock market data for AAPL, MSFT, NFLX, and GOOG.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Performed EDA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SQL Integration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ML Model Training (Random Forest)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Stream</a:t>
            </a:r>
            <a:r>
              <a:rPr lang="en-US" dirty="0"/>
              <a:t> </a:t>
            </a:r>
            <a:r>
              <a:rPr dirty="0"/>
              <a:t>lit App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9CB43-F198-6765-414D-B178AB834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0988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Description</a:t>
            </a:r>
            <a:endParaRPr lang="en-IN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846B5-1DFD-8F6E-C2B3-B7A1E2659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729" y="1417638"/>
            <a:ext cx="8775290" cy="5165724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The dataset consists of historical stock price data for Apple (AAPL), Microsoft (MSFT), Netflix (NFLX), and Google (GOOG)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Fields: Ticker, Date, Open, High, Low, Close, Adj Close, Volume.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 missing values were found, ensuring good data quality.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66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0417-845A-3BD9-1540-F014C64A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  <a:r>
              <a:rPr lang="en-US" u="sng" dirty="0"/>
              <a:t> </a:t>
            </a:r>
            <a:endParaRPr lang="en-IN" dirty="0"/>
          </a:p>
        </p:txBody>
      </p:sp>
      <p:pic>
        <p:nvPicPr>
          <p:cNvPr id="4" name="Content Placeholder 3" descr="A table of datasets&#10;&#10;AI-generated content may be incorrect.">
            <a:extLst>
              <a:ext uri="{FF2B5EF4-FFF2-40B4-BE49-F238E27FC236}">
                <a16:creationId xmlns:a16="http://schemas.microsoft.com/office/drawing/2014/main" id="{1FF5D749-4A40-A18F-798E-2ABF1A4ED7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1" y="1417638"/>
            <a:ext cx="8849033" cy="51657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2000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2B3D-BC9C-26BE-E3EC-E249E9CB2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19981"/>
          </a:xfrm>
        </p:spPr>
        <p:txBody>
          <a:bodyPr/>
          <a:lstStyle/>
          <a:p>
            <a:r>
              <a:rPr lang="en-US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Technology Stack</a:t>
            </a:r>
            <a:endParaRPr lang="en-IN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28016-546C-BA40-AC50-54C9B1D42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25" y="1600200"/>
            <a:ext cx="8745793" cy="511031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Python (Pandas, NumPy, Matplotlib, Seaborn, Scikit-learn)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SQL (MySQL for storing raw data, features, predictions, and metrics)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Machine Learning (Random Forest Regressor)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Stream lit (for interactive dashboard)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Excel Export (via Pandas Excel Writer)</a:t>
            </a:r>
          </a:p>
        </p:txBody>
      </p:sp>
    </p:spTree>
    <p:extLst>
      <p:ext uri="{BB962C8B-B14F-4D97-AF65-F5344CB8AC3E}">
        <p14:creationId xmlns:p14="http://schemas.microsoft.com/office/powerpoint/2010/main" val="3558589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3596-1407-6AC2-0A3E-3AB7E315A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3723"/>
          </a:xfrm>
        </p:spPr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Workflow and Implementation Steps</a:t>
            </a:r>
            <a:endParaRPr lang="en-IN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85575-71C1-DDC1-5468-2A82DA090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729" y="2064774"/>
            <a:ext cx="8731045" cy="4518587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1. Data Preprocessing</a:t>
            </a:r>
          </a:p>
          <a:p>
            <a:pPr lvl="0"/>
            <a:r>
              <a:rPr lang="en-IN" dirty="0"/>
              <a:t>Loaded raw CSV dataset</a:t>
            </a:r>
          </a:p>
          <a:p>
            <a:pPr lvl="0"/>
            <a:r>
              <a:rPr lang="en-IN" dirty="0"/>
              <a:t>Cleaned column names &amp; handled missing values</a:t>
            </a:r>
          </a:p>
          <a:p>
            <a:pPr lvl="0"/>
            <a:r>
              <a:rPr lang="en-IN" dirty="0"/>
              <a:t>Feature engineering (Moving Averages, Volatility, Lag features)</a:t>
            </a:r>
          </a:p>
          <a:p>
            <a:pPr lvl="0"/>
            <a:r>
              <a:rPr lang="en-IN" dirty="0"/>
              <a:t>Train/test split for ML model</a:t>
            </a:r>
          </a:p>
          <a:p>
            <a:pPr lvl="0"/>
            <a:r>
              <a:rPr lang="en-US" dirty="0"/>
              <a:t>deploy it via Stream lit and SQL/Excel export</a:t>
            </a:r>
            <a:endParaRPr lang="en-IN" dirty="0"/>
          </a:p>
          <a:p>
            <a:pPr lvl="0"/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834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EE31A-1987-47FB-4B1A-AE3CB02FE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Preprocessing Flow Diagram</a:t>
            </a:r>
            <a:endParaRPr lang="en-IN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B6322F-8AFC-D6D2-5C54-0D4CC83A7A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485" y="1769806"/>
            <a:ext cx="8819534" cy="49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65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C7299-20B5-6058-FC8B-D28E09DA9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32735"/>
            <a:ext cx="8731046" cy="654828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4100" b="1" dirty="0">
                <a:solidFill>
                  <a:schemeClr val="tx2"/>
                </a:solidFill>
              </a:rPr>
              <a:t>2. Exploratory Data Analysis (EDA)</a:t>
            </a:r>
          </a:p>
          <a:p>
            <a:pPr marL="0" indent="0">
              <a:buNone/>
            </a:pPr>
            <a:endParaRPr lang="en-IN" b="1" dirty="0">
              <a:solidFill>
                <a:schemeClr val="tx2"/>
              </a:solidFill>
            </a:endParaRPr>
          </a:p>
          <a:p>
            <a:r>
              <a:rPr lang="en-IN" b="1" dirty="0">
                <a:solidFill>
                  <a:schemeClr val="tx2"/>
                </a:solidFill>
              </a:rPr>
              <a:t>Distribution of closing prices:</a:t>
            </a:r>
            <a:r>
              <a:rPr lang="en-IN" dirty="0"/>
              <a:t> </a:t>
            </a:r>
            <a:r>
              <a:rPr lang="en-US" dirty="0"/>
              <a:t> This histogram shows how stock closing prices are distributed, which helps us understand the price range and central tendency.</a:t>
            </a:r>
          </a:p>
          <a:p>
            <a:pPr lvl="0"/>
            <a:endParaRPr lang="en-IN" dirty="0"/>
          </a:p>
          <a:p>
            <a:r>
              <a:rPr lang="en-IN" b="1" dirty="0">
                <a:solidFill>
                  <a:schemeClr val="tx2"/>
                </a:solidFill>
              </a:rPr>
              <a:t>Total traded volume by company:</a:t>
            </a:r>
            <a:r>
              <a:rPr lang="en-IN" dirty="0"/>
              <a:t> </a:t>
            </a:r>
            <a:r>
              <a:rPr lang="en-US" dirty="0"/>
              <a:t>This bar chart compares total trading volumes by company. Apple and Microsoft show higher average activity compared to Netflix and Google.</a:t>
            </a:r>
          </a:p>
          <a:p>
            <a:pPr lvl="0"/>
            <a:endParaRPr lang="en-IN" dirty="0"/>
          </a:p>
          <a:p>
            <a:r>
              <a:rPr lang="en-IN" b="1" dirty="0">
                <a:solidFill>
                  <a:schemeClr val="tx2"/>
                </a:solidFill>
              </a:rPr>
              <a:t>Scatter plot (Volume vs Closing Price):</a:t>
            </a:r>
            <a:r>
              <a:rPr lang="en-IN" dirty="0"/>
              <a:t> </a:t>
            </a:r>
            <a:r>
              <a:rPr lang="en-US" dirty="0"/>
              <a:t>Here we see the relationship between trading volume and stock closing prices. Higher volumes don’t always mean higher prices.</a:t>
            </a:r>
          </a:p>
          <a:p>
            <a:pPr lvl="0"/>
            <a:endParaRPr lang="en-IN" dirty="0"/>
          </a:p>
          <a:p>
            <a:r>
              <a:rPr lang="en-IN" b="1" dirty="0">
                <a:solidFill>
                  <a:schemeClr val="tx2"/>
                </a:solidFill>
              </a:rPr>
              <a:t>Correlation Heatmap:</a:t>
            </a:r>
            <a:r>
              <a:rPr lang="en-IN" dirty="0"/>
              <a:t> </a:t>
            </a:r>
            <a:r>
              <a:rPr lang="en-US" dirty="0"/>
              <a:t>The correlation matrix shows very strong relationships among Open, High, Low, and Close prices. However, trading volume has weaker correlation with price movements.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3801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F1BEB-5E92-E6F0-33F4-96525C864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Exploratory Data Analysis (EDA) Charts</a:t>
            </a:r>
            <a:endParaRPr lang="en-IN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7F3C499-FD1A-4189-E43E-234385FD89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1226" y="1622322"/>
            <a:ext cx="4274574" cy="4961039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B788C94-7CBC-CCA7-6113-84363DD814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48199" y="1622322"/>
            <a:ext cx="4274573" cy="496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87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1084A4-12E7-F79D-C004-B60D63B1D7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2735" y="309716"/>
            <a:ext cx="4363065" cy="6268065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7AD9424-546B-88B4-1D54-C26D2C7C1F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48199" y="309716"/>
            <a:ext cx="4363065" cy="626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56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D0BEAD-7F46-E3B2-D2E1-6C562A2C5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3" y="294968"/>
            <a:ext cx="8716297" cy="6400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3. SQL QUERIES AND INSIGHTS</a:t>
            </a:r>
          </a:p>
          <a:p>
            <a:pPr marL="0" indent="0">
              <a:buNone/>
            </a:pPr>
            <a:endParaRPr lang="en-IN" b="1" dirty="0">
              <a:solidFill>
                <a:schemeClr val="tx2"/>
              </a:solidFill>
              <a:ea typeface="MS Mincho" panose="02020609040205080304" pitchFamily="49" charset="-128"/>
              <a:cs typeface="Mangal" panose="02040503050203030202" pitchFamily="18" charset="0"/>
            </a:endParaRPr>
          </a:p>
          <a:p>
            <a:pPr lvl="0"/>
            <a:r>
              <a:rPr lang="en-IN" dirty="0"/>
              <a:t>Stored raw, feature-engineered, and predictions data into </a:t>
            </a:r>
            <a:r>
              <a:rPr lang="en-IN" b="1" dirty="0"/>
              <a:t>MySQL</a:t>
            </a:r>
          </a:p>
          <a:p>
            <a:pPr marL="0" lvl="0" indent="0">
              <a:buNone/>
            </a:pPr>
            <a:endParaRPr lang="en-IN" dirty="0"/>
          </a:p>
          <a:p>
            <a:pPr lvl="0"/>
            <a:r>
              <a:rPr lang="en-IN" dirty="0"/>
              <a:t>Example Query: </a:t>
            </a:r>
            <a:r>
              <a:rPr lang="en-IN" i="1" dirty="0"/>
              <a:t>Average Closing Price by Ticker</a:t>
            </a:r>
          </a:p>
          <a:p>
            <a:pPr marL="0" lvl="0" indent="0">
              <a:buNone/>
            </a:pPr>
            <a:endParaRPr lang="en-IN" i="1" dirty="0"/>
          </a:p>
          <a:p>
            <a:r>
              <a:rPr lang="en-US" dirty="0"/>
              <a:t>Here, we used SQL queries to summarize data.</a:t>
            </a:r>
            <a:br>
              <a:rPr lang="en-US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4977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 Query Result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3029A-B6C9-E96C-1833-ED77F458A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417638"/>
            <a:ext cx="4259827" cy="5278130"/>
          </a:xfrm>
        </p:spPr>
        <p:txBody>
          <a:bodyPr/>
          <a:lstStyle/>
          <a:p>
            <a:r>
              <a:rPr lang="en-US" dirty="0"/>
              <a:t>This bar chart represents the </a:t>
            </a:r>
            <a:r>
              <a:rPr lang="en-US" b="1" dirty="0"/>
              <a:t>average closing price by ticker</a:t>
            </a:r>
            <a:r>
              <a:rPr lang="en-US" dirty="0"/>
              <a:t>, computed using SQL aggregation queries.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Such queries make it easier to derive financial insights directly from the database.</a:t>
            </a:r>
          </a:p>
          <a:p>
            <a:endParaRPr lang="en-IN" dirty="0"/>
          </a:p>
        </p:txBody>
      </p:sp>
      <p:pic>
        <p:nvPicPr>
          <p:cNvPr id="4" name="Picture 3" descr="sq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3" y="1417638"/>
            <a:ext cx="4259827" cy="52781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5192B-A582-F712-B2F0-A04380573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176982"/>
            <a:ext cx="8686800" cy="645979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4. Machine Learning</a:t>
            </a:r>
          </a:p>
          <a:p>
            <a:pPr marL="0" lvl="0" indent="0">
              <a:buNone/>
            </a:pPr>
            <a:endParaRPr lang="en-IN" b="1" dirty="0">
              <a:solidFill>
                <a:schemeClr val="tx2"/>
              </a:solidFill>
            </a:endParaRPr>
          </a:p>
          <a:p>
            <a:pPr lvl="0"/>
            <a:r>
              <a:rPr lang="en-IN" dirty="0"/>
              <a:t>Trained a </a:t>
            </a:r>
            <a:r>
              <a:rPr lang="en-IN" b="1" dirty="0"/>
              <a:t>Random Forest Regressor</a:t>
            </a:r>
            <a:r>
              <a:rPr lang="en-US" dirty="0"/>
              <a:t> to predict stock prices.</a:t>
            </a:r>
            <a:endParaRPr lang="en-IN" dirty="0"/>
          </a:p>
          <a:p>
            <a:pPr lvl="0"/>
            <a:r>
              <a:rPr lang="en-IN" dirty="0"/>
              <a:t>Evaluated performance with </a:t>
            </a:r>
            <a:r>
              <a:rPr lang="en-IN" b="1" dirty="0"/>
              <a:t>RMSE, MAE, R²</a:t>
            </a:r>
            <a:endParaRPr lang="en-IN" dirty="0"/>
          </a:p>
          <a:p>
            <a:pPr lvl="0"/>
            <a:r>
              <a:rPr lang="en-IN" dirty="0"/>
              <a:t>Visualized </a:t>
            </a:r>
            <a:r>
              <a:rPr lang="en-IN" b="1" dirty="0"/>
              <a:t>Actual vs Predicted closing prices</a:t>
            </a:r>
            <a:endParaRPr lang="en-IN" dirty="0"/>
          </a:p>
          <a:p>
            <a:r>
              <a:rPr lang="en-US" dirty="0"/>
              <a:t>The closer the points are to the diagonal line, the better the prediction.</a:t>
            </a:r>
          </a:p>
          <a:p>
            <a:r>
              <a:rPr lang="en-US" dirty="0"/>
              <a:t>Our model achieved an </a:t>
            </a:r>
            <a:r>
              <a:rPr lang="en-US" b="1" dirty="0"/>
              <a:t>R² score above 0.8</a:t>
            </a:r>
            <a:r>
              <a:rPr lang="en-US" dirty="0"/>
              <a:t>, showing good predictive capability.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3328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Training</a:t>
            </a:r>
            <a:r>
              <a:rPr 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Visualization</a:t>
            </a:r>
            <a:endParaRPr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729" y="1600200"/>
            <a:ext cx="8760542" cy="4525963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solidFill>
                  <a:schemeClr val="tx2"/>
                </a:solidFill>
              </a:rPr>
              <a:t>Random Forest Regressor performance (Actual vs Predicted)</a:t>
            </a:r>
          </a:p>
        </p:txBody>
      </p:sp>
      <p:pic>
        <p:nvPicPr>
          <p:cNvPr id="4" name="Picture 3" descr="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" y="2713703"/>
            <a:ext cx="8701547" cy="40115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FE822-AAB9-E5AE-8105-4A4CCC4B7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4" y="206477"/>
            <a:ext cx="8686800" cy="6518787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IN" b="1" dirty="0">
                <a:solidFill>
                  <a:schemeClr val="tx2"/>
                </a:solidFill>
              </a:rPr>
              <a:t>5. Stream lit Dashboard</a:t>
            </a:r>
          </a:p>
          <a:p>
            <a:pPr marL="0" lvl="0" indent="0">
              <a:buNone/>
            </a:pPr>
            <a:endParaRPr lang="en-IN" b="1" dirty="0">
              <a:solidFill>
                <a:schemeClr val="tx2"/>
              </a:solidFill>
            </a:endParaRPr>
          </a:p>
          <a:p>
            <a:pPr lvl="0"/>
            <a:r>
              <a:rPr lang="en-IN" dirty="0"/>
              <a:t>Upload CSV &amp; preview data</a:t>
            </a:r>
          </a:p>
          <a:p>
            <a:pPr marL="0" lvl="0" indent="0">
              <a:buNone/>
            </a:pPr>
            <a:endParaRPr lang="en-IN" dirty="0"/>
          </a:p>
          <a:p>
            <a:pPr lvl="0"/>
            <a:r>
              <a:rPr lang="en-IN" dirty="0"/>
              <a:t>Train ML model interactively</a:t>
            </a:r>
          </a:p>
          <a:p>
            <a:pPr marL="0" lvl="0" indent="0">
              <a:buNone/>
            </a:pPr>
            <a:endParaRPr lang="en-IN" dirty="0"/>
          </a:p>
          <a:p>
            <a:pPr lvl="0"/>
            <a:r>
              <a:rPr lang="en-IN" dirty="0"/>
              <a:t>Visualize predictions (Actual vs Predicted)</a:t>
            </a:r>
          </a:p>
          <a:p>
            <a:pPr marL="0" lvl="0" indent="0">
              <a:buNone/>
            </a:pPr>
            <a:endParaRPr lang="en-IN" dirty="0"/>
          </a:p>
          <a:p>
            <a:pPr lvl="0"/>
            <a:r>
              <a:rPr lang="en-IN" dirty="0"/>
              <a:t>Export results to Excel or save to MySQL</a:t>
            </a:r>
          </a:p>
          <a:p>
            <a:pPr marL="0" lvl="0" indent="0">
              <a:buNone/>
            </a:pPr>
            <a:endParaRPr lang="en-IN" dirty="0"/>
          </a:p>
          <a:p>
            <a:r>
              <a:rPr lang="en-US" dirty="0"/>
              <a:t>This makes the project more user-friendly and accessible.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396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785BA0-B070-7CDA-ACA7-D12511343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90485"/>
          </a:xfrm>
        </p:spPr>
        <p:txBody>
          <a:bodyPr/>
          <a:lstStyle/>
          <a:p>
            <a:r>
              <a:rPr lang="en-IN" b="1" dirty="0">
                <a:solidFill>
                  <a:schemeClr val="tx2"/>
                </a:solidFill>
              </a:rPr>
              <a:t>Stream lit Dashboard Visualization</a:t>
            </a:r>
            <a:endParaRPr lang="en-IN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1770B0-231B-279D-0CD2-B27910165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226" y="1417638"/>
            <a:ext cx="8775290" cy="516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62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1D2B-D5F5-ACD0-A085-55786FE6A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19981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Final Insight</a:t>
            </a:r>
            <a:endParaRPr lang="en-IN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90EE0-5598-9894-2015-438B2B17C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417639"/>
            <a:ext cx="8745794" cy="5307626"/>
          </a:xfrm>
        </p:spPr>
        <p:txBody>
          <a:bodyPr>
            <a:normAutofit/>
          </a:bodyPr>
          <a:lstStyle/>
          <a:p>
            <a:r>
              <a:rPr lang="en-US" dirty="0"/>
              <a:t>While machine learning models can capture historical patterns and short-term fluctuations, stock markets remain influenced by external economic, political, and psychological factors that are not fully captured in the dataset. </a:t>
            </a:r>
          </a:p>
          <a:p>
            <a:r>
              <a:rPr lang="en-US" dirty="0"/>
              <a:t>ML aids forecasting but markets depend on external factors.</a:t>
            </a:r>
            <a:endParaRPr lang="en-IN" dirty="0"/>
          </a:p>
          <a:p>
            <a:r>
              <a:rPr lang="en-US" dirty="0"/>
              <a:t>Nevertheless, this project illustrates the potential of ML and data analytics in financial forecasting and decision-making.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0295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88A84-1251-54D7-3451-8F0E7EC29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473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Takeaways</a:t>
            </a:r>
            <a:endParaRPr lang="en-IN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33DF6-0F7E-39C8-DEA2-E7AAAEF84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26" y="1445342"/>
            <a:ext cx="8760542" cy="525042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b="1" dirty="0">
                <a:solidFill>
                  <a:schemeClr val="tx2"/>
                </a:solidFill>
              </a:rPr>
              <a:t>EDA</a:t>
            </a:r>
            <a:r>
              <a:rPr lang="en-US" dirty="0"/>
              <a:t> revealed strong correlations among stock price variables, highlighted trading volume patterns, and provided insights into price distributions.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>
                <a:solidFill>
                  <a:schemeClr val="tx2"/>
                </a:solidFill>
              </a:rPr>
              <a:t>SQL queries</a:t>
            </a:r>
            <a:r>
              <a:rPr lang="en-US" dirty="0"/>
              <a:t> helped in summarizing key financial metrics such as average closing price per ticker.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>
                <a:solidFill>
                  <a:schemeClr val="tx2"/>
                </a:solidFill>
              </a:rPr>
              <a:t>A Random Forest Regressor</a:t>
            </a:r>
            <a:r>
              <a:rPr lang="en-US" dirty="0"/>
              <a:t> was trained, achieving a good R² score, showing its ability to capture short-term stock price variations.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>
                <a:solidFill>
                  <a:schemeClr val="tx2"/>
                </a:solidFill>
              </a:rPr>
              <a:t>Feature importance analysis</a:t>
            </a:r>
            <a:r>
              <a:rPr lang="en-US" dirty="0"/>
              <a:t> highlighted lagged prices, moving averages, and volatility as crucial predictors.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>
                <a:solidFill>
                  <a:schemeClr val="tx2"/>
                </a:solidFill>
              </a:rPr>
              <a:t>The Stream lit app</a:t>
            </a:r>
            <a:r>
              <a:rPr lang="en-US" dirty="0"/>
              <a:t> enabled interactive exploration of the dataset, model training, predictions, and exporting results to Excel/MySQL.</a:t>
            </a:r>
            <a:br>
              <a:rPr lang="en-US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031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477" y="1600200"/>
            <a:ext cx="8745794" cy="512506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This project shows how </a:t>
            </a:r>
            <a:r>
              <a:rPr lang="en-US" b="1" dirty="0"/>
              <a:t>data science techniques can be applied to financial datasets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dirty="0"/>
              <a:t>Strong correlation among price variables.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SQL queries summarized financial metrics.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EDA revealed important patterns.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Random Forest achieved good R² score.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Stream</a:t>
            </a:r>
            <a:r>
              <a:rPr lang="en-US" dirty="0"/>
              <a:t> </a:t>
            </a:r>
            <a:r>
              <a:rPr dirty="0"/>
              <a:t>lit app enabled interactive exploration.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946C-F09F-5CEB-6687-6403E754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  <a:endParaRPr lang="en-IN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3BF18-B0E5-10FD-6E3B-4AEF18B96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600200"/>
            <a:ext cx="8731046" cy="4983162"/>
          </a:xfrm>
        </p:spPr>
        <p:txBody>
          <a:bodyPr>
            <a:normAutofit/>
          </a:bodyPr>
          <a:lstStyle/>
          <a:p>
            <a:endParaRPr lang="en-US" b="1" u="sng" dirty="0">
              <a:solidFill>
                <a:schemeClr val="tx2"/>
              </a:solidFill>
            </a:endParaRPr>
          </a:p>
          <a:p>
            <a:r>
              <a:rPr lang="en-US" b="1" u="sng" dirty="0">
                <a:solidFill>
                  <a:schemeClr val="tx2"/>
                </a:solidFill>
              </a:rPr>
              <a:t>Dataset:</a:t>
            </a:r>
            <a:r>
              <a:rPr lang="en-US" dirty="0"/>
              <a:t> C:/Users/Hp/OneDrive/Desktop/python/Stock_Market/stocks.csv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>
                <a:solidFill>
                  <a:schemeClr val="tx2"/>
                </a:solidFill>
              </a:rPr>
              <a:t>GitHub Project:</a:t>
            </a:r>
            <a:r>
              <a:rPr lang="en-US" dirty="0"/>
              <a:t> https://github.com/abhi-1009/Stock-Market-Analysis-Project-Report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2302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C6B31-8395-6B8E-1928-FA1A8F94E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225" y="206477"/>
            <a:ext cx="8716297" cy="6459793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	</a:t>
            </a:r>
          </a:p>
          <a:p>
            <a:pPr marL="0" indent="0">
              <a:buNone/>
            </a:pPr>
            <a:endParaRPr lang="en-US" b="1" i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>
              <a:buNone/>
            </a:pPr>
            <a:endParaRPr lang="en-US" b="1" i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 algn="ctr">
              <a:buNone/>
            </a:pPr>
            <a:endParaRPr lang="en-US" sz="6600" b="1" i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pPr marL="0" indent="0" algn="ctr">
              <a:buNone/>
            </a:pPr>
            <a:r>
              <a:rPr lang="en-US" sz="6600" b="1" i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THANK YOU</a:t>
            </a:r>
            <a:endParaRPr lang="en-IN" sz="6600" i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6617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782</Words>
  <Application>Microsoft Office PowerPoint</Application>
  <PresentationFormat>On-screen Show (4:3)</PresentationFormat>
  <Paragraphs>114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MS Mincho</vt:lpstr>
      <vt:lpstr>Arial</vt:lpstr>
      <vt:lpstr>Calibri</vt:lpstr>
      <vt:lpstr>Office Theme</vt:lpstr>
      <vt:lpstr>Stock Market Analysis Project</vt:lpstr>
      <vt:lpstr>Abstract</vt:lpstr>
      <vt:lpstr>Dataset Description</vt:lpstr>
      <vt:lpstr>Dataset </vt:lpstr>
      <vt:lpstr>Technology Stack</vt:lpstr>
      <vt:lpstr>Project Workflow and Implementation Steps</vt:lpstr>
      <vt:lpstr>The Preprocessing Flow Diagram</vt:lpstr>
      <vt:lpstr>PowerPoint Presentation</vt:lpstr>
      <vt:lpstr>Exploratory Data Analysis (EDA) Charts</vt:lpstr>
      <vt:lpstr>PowerPoint Presentation</vt:lpstr>
      <vt:lpstr>PowerPoint Presentation</vt:lpstr>
      <vt:lpstr>SQL Query Result</vt:lpstr>
      <vt:lpstr>PowerPoint Presentation</vt:lpstr>
      <vt:lpstr>ML Model Training Visualization</vt:lpstr>
      <vt:lpstr>PowerPoint Presentation</vt:lpstr>
      <vt:lpstr>Stream lit Dashboard Visualization</vt:lpstr>
      <vt:lpstr>Final Insight</vt:lpstr>
      <vt:lpstr>Key Takeaways</vt:lpstr>
      <vt:lpstr>Conclusion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1qh5y</cp:lastModifiedBy>
  <cp:revision>3</cp:revision>
  <dcterms:created xsi:type="dcterms:W3CDTF">2013-01-27T09:14:16Z</dcterms:created>
  <dcterms:modified xsi:type="dcterms:W3CDTF">2025-09-27T17:58:47Z</dcterms:modified>
  <cp:category/>
</cp:coreProperties>
</file>